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ChronoDoc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37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9C6DA"/>
                </a:solidFill>
                <a:latin typeface="Calibri"/>
              </a:rPr>
              <a:t>Vision-Language Contract Intelligence with Persistent Graph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9BB8"/>
                </a:solidFill>
                <a:latin typeface="Calibri"/>
              </a:rPr>
              <a:t>An open-source, fully local pipeline for cross-document, cross-time contract reasoning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97280" cy="381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85800"/>
            <a:ext cx="32004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The Problem With Standard RAG on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06B7A"/>
                </a:solidFill>
                <a:latin typeface="Calibri"/>
              </a:rPr>
              <a:t>"How does this vendor's new contract compare to the spec sheet they submitted six months ago?"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>
                <a:solidFill>
                  <a:srgbClr val="334155"/>
                </a:solidFill>
              </a:rPr>
              <a:t>•  Visual blindness — tables, stamps, and signature blocks get flattened or dropped; row/column relationships in pricing tables are lost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334155"/>
                </a:solidFill>
              </a:rPr>
              <a:t>•  Document isolation — no structural memory that "March contract" and "September renewal" are the same vendor relationship at two points in time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334155"/>
                </a:solidFill>
              </a:rPr>
              <a:t>•  No provenance/version chain — no SUPERSEDES relationship, only cosine similarity; can't answer "is this still in effect"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334155"/>
                </a:solidFill>
              </a:rPr>
              <a:t>•  Silent staleness (the dangerous one) — if an amendment isn't retrieved, RAG confidently answers with the outdated term, with no signal anything 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85800"/>
            <a:ext cx="32004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Three-Layer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65960"/>
            <a:ext cx="640080" cy="1143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65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  <a:latin typeface="Calibri"/>
              </a:rPr>
              <a:t>Vision-Language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42316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Docling parses layout/tables/bboxes from the PDF; a local LLM (Ollama) structures that into typed JSON — entities, clauses, tables, visual elements, with page/bbox provenance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640080" cy="1143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  <a:latin typeface="Calibri"/>
              </a:rPr>
              <a:t>Persistent Graph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8404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Entities become nodes; relationships link documents across time — same vendor, supersession, cross-references. New documents link to existing entities rather than forming disconnected islands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40080" cy="1143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800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  <a:latin typeface="Calibri"/>
              </a:rPr>
              <a:t>Reasoning +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52578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NL query → graph traversal finds relevant entity clusters across time → grounding text pulled for those entities → local LLM synthesizes a cited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85800"/>
            <a:ext cx="32004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Tech Stack — All Open Source /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06B7A"/>
                </a:solidFill>
                <a:latin typeface="Calibri"/>
              </a:rPr>
              <a:t>No paid APIs, no hosted vector DB, no hosted graph DB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6596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4978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PDF layout/table parsing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</a:rPr>
                        <a:t>Docling (IBM)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OCR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</a:rPr>
                        <a:t>Tesseract (via Docling)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Entity/clause structuring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</a:rPr>
                        <a:t>Ollama + llama3.1:8b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Chunk embeddings (fallback grounding)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</a:rPr>
                        <a:t>sentence-transformers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Vector store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</a:rPr>
                        <a:t>Chroma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Graph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</a:rPr>
                        <a:t>Kuzu (embedded, in-process) — swapped in for Neo4j/Docker due to memory constraints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Query/synthesis LLM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</a:rPr>
                        <a:t>Ollama, local model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</a:rPr>
                        <a:t>Hand-rolled Python — no LangChain/LlamaIndex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UI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</a:rPr>
                        <a:t>Streamlit (built last, after the pipeline works end-to-end)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85800"/>
            <a:ext cx="32004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Graph Schema (Kuzu)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334155"/>
                </a:solidFill>
              </a:rPr>
              <a:t>•  Vendor — name, normalized_name, first_seen_date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34155"/>
                </a:solidFill>
              </a:rPr>
              <a:t>•  Document — doc_id, doc_type, ingestion/effective_date, page_count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34155"/>
                </a:solidFill>
              </a:rPr>
              <a:t>•  Section — heading, page range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34155"/>
                </a:solidFill>
              </a:rPr>
              <a:t>•  Clause — clause_type, text_summary, page_ref, bbox, confidence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34155"/>
                </a:solidFill>
              </a:rPr>
              <a:t>•  Entity — entity_type (price/date/SLA_term/quantity/party_name), value, page_ref, bbox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34155"/>
                </a:solidFill>
              </a:rPr>
              <a:t>•  VisualElement — signatures/stamps, page_ref, bbox, detected_only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Key Edges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331720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334155"/>
                </a:solidFill>
              </a:rPr>
              <a:t>•  Vendor -[SUBMITTED / PARTY_TO]-&gt; Document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34155"/>
                </a:solidFill>
              </a:rPr>
              <a:t>•  Document -[SUPERSEDES]-&gt; Document — the temporal backbone; manually annotated at ingestion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34155"/>
                </a:solidFill>
              </a:rPr>
              <a:t>•  Document -[CONTAINS]-&gt; Section / Clause / Entity / VisualElement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34155"/>
                </a:solidFill>
              </a:rPr>
              <a:t>•  Entity -[SAME_AS]-&gt; Entity — links the same kind of value across versions WITHOUT merging; a changed value stays visible as two linked entities, not one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34155"/>
                </a:solidFill>
              </a:rPr>
              <a:t>•  Clause -[REFERENCES]-&gt; Clause | 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85800"/>
            <a:ext cx="32004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Validated End-to-End on a Real Document Pair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06B7A"/>
                </a:solidFill>
                <a:latin typeface="Calibri"/>
              </a:rPr>
              <a:t>Sourced from SEC EDGAR — no fabricated samples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Charles &amp; Colvard, Ltd. ↔ Cree, Inc. — Exclusive Supply Agreement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51460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429000"/>
                <a:gridCol w="3429000"/>
              </a:tblGrid>
              <a:tr h="48768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2014 Original Agreement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2020 Second Amendment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Vendor identified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</a:rPr>
                        <a:t>Cree, Inc.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</a:rPr>
                        <a:t>Cree, Inc.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</a:rPr>
                        <a:t>Term expiration (entity)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</a:rPr>
                        <a:t>June 24, 2018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</a:rPr>
                        <a:t>June 29, 2025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9768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334155"/>
                </a:solidFill>
              </a:rPr>
              <a:t>•  Graph correctly links the two term-expiration entities as SAME_AS across versions, and the 2020 doc SUPERSEDES the 2014 original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334155"/>
                </a:solidFill>
              </a:rPr>
              <a:t>•  Every clause/entity carries real page + bbox provenance resolved from Docling's own output — not hallucinated by the LLM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334155"/>
                </a:solidFill>
              </a:rPr>
              <a:t>•  Note: pricing terms in both real filings are SEC confidential-treatment redacted ([***]) — structure is extracted correctly, but no real numeric price change is visible in the public record for the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85800"/>
            <a:ext cx="32004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What It Took To Get Reliable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50">
                <a:solidFill>
                  <a:srgbClr val="334155"/>
                </a:solidFill>
              </a:rPr>
              <a:t>•  Docling's own page-rasterization hit a memory ceiling on this machine around page 13 of longer documents — fixed by splitting into smaller PDFs and stitching results back together</a:t>
            </a:r>
          </a:p>
          <a:p>
            <a:pPr>
              <a:spcAft>
                <a:spcPts val="1400"/>
              </a:spcAft>
            </a:pPr>
            <a:r>
              <a:rPr sz="1550">
                <a:solidFill>
                  <a:srgbClr val="334155"/>
                </a:solidFill>
              </a:rPr>
              <a:t>•  llama3.2:3b reliably hallucinated a redaction placeholder ("[****]") in place of real dates/prices, even on fully unredacted text — a deterministic model-capability limit, not a prompt-wording issue — resolved by upgrading to llama3.1:8b</a:t>
            </a:r>
          </a:p>
          <a:p>
            <a:pPr>
              <a:spcAft>
                <a:spcPts val="1400"/>
              </a:spcAft>
            </a:pPr>
            <a:r>
              <a:rPr sz="1550">
                <a:solidFill>
                  <a:srgbClr val="334155"/>
                </a:solidFill>
              </a:rPr>
              <a:t>•  Grounding entities/clauses by having the LLM cite a source element ID (rather than trust it to reproduce page numbers/bbox coordinates from memory) eliminated a whole class of hallucinated provenance</a:t>
            </a:r>
          </a:p>
          <a:p>
            <a:pPr>
              <a:spcAft>
                <a:spcPts val="1400"/>
              </a:spcAft>
            </a:pPr>
            <a:r>
              <a:rPr sz="1550">
                <a:solidFill>
                  <a:srgbClr val="334155"/>
                </a:solidFill>
              </a:rPr>
              <a:t>•  A single-shot extraction prompt reliably found party names but skipped concrete values (dates/prices) even when explicitly instructed — split into a second, narrower per-clause pass that asks one focused question at a time</a:t>
            </a:r>
          </a:p>
          <a:p>
            <a:pPr>
              <a:spcAft>
                <a:spcPts val="1400"/>
              </a:spcAft>
            </a:pPr>
            <a:r>
              <a:rPr sz="1550">
                <a:solidFill>
                  <a:srgbClr val="334155"/>
                </a:solidFill>
              </a:rPr>
              <a:t>•  Neo4j-in-Docker repeatedly failed to start under this machine's memory pressure — swapped for Kuzu, an embedded graph DB with the same Cypher query model but no server/JVM overhead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85800"/>
            <a:ext cx="32004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Status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B6CB0"/>
                </a:solidFill>
                <a:latin typeface="Calibri"/>
              </a:rPr>
              <a:t>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</a:rPr>
              <a:t>•  Project skeleton, venv, dependencies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</a:rPr>
              <a:t>•  PDF -&gt; Docling raw extraction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</a:rPr>
              <a:t>•  Docling output -&gt; schema JSON via local LLM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</a:rPr>
              <a:t>•  Kuzu graph schema + ingestion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</a:rPr>
              <a:t>•  SAME_AS + SUPERSEDES resolution, validated on a real document pair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33172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</a:rPr>
              <a:t>•  Query layer: NL question -&gt; graph traversal -&gt; cited answer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</a:rPr>
              <a:t>•  Explicit temporal/cross-document comparison ("March vs September")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</a:rPr>
              <a:t>•  Before/after demo: plain chunk-RAG vs. ChronoDoc on the same staleness-triggering question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</a:rPr>
              <a:t>•  Streamlit UI, built last once the pipeline works end-to-end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</a:rPr>
              <a:t>•  Ingest 1-2 more real documents to stress-test SAME_AS/SUPERSEDES 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